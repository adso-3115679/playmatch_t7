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9753600" cy="7315200"/>
  <p:notesSz cx="6858000" cy="9144000"/>
  <p:embeddedFontLst>
    <p:embeddedFont>
      <p:font typeface="Cambria" panose="02040503050406030204" pitchFamily="18" charset="0"/>
      <p:regular r:id="rId3"/>
      <p:bold r:id="rId4"/>
      <p:italic r:id="rId5"/>
      <p:boldItalic r:id="rId6"/>
    </p:embeddedFont>
    <p:embeddedFont>
      <p:font typeface="DM Sans Bold" panose="020B0604020202020204" charset="0"/>
      <p:regular r:id="rId7"/>
    </p:embeddedFont>
    <p:embeddedFont>
      <p:font typeface="TAN Meringue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8" d="100"/>
          <a:sy n="98" d="100"/>
        </p:scale>
        <p:origin x="1788" y="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59" y="28264"/>
            <a:ext cx="9745241" cy="7286936"/>
          </a:xfrm>
          <a:custGeom>
            <a:avLst/>
            <a:gdLst/>
            <a:ahLst/>
            <a:cxnLst/>
            <a:rect l="l" t="t" r="r" b="b"/>
            <a:pathLst>
              <a:path w="9745241" h="7286936">
                <a:moveTo>
                  <a:pt x="0" y="0"/>
                </a:moveTo>
                <a:lnTo>
                  <a:pt x="9745241" y="0"/>
                </a:lnTo>
                <a:lnTo>
                  <a:pt x="9745241" y="7286936"/>
                </a:lnTo>
                <a:lnTo>
                  <a:pt x="0" y="7286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07" r="-840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2580195" y="1608424"/>
            <a:ext cx="2090623" cy="550003"/>
            <a:chOff x="0" y="0"/>
            <a:chExt cx="829837" cy="218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29837" cy="218314"/>
            </a:xfrm>
            <a:custGeom>
              <a:avLst/>
              <a:gdLst/>
              <a:ahLst/>
              <a:cxnLst/>
              <a:rect l="l" t="t" r="r" b="b"/>
              <a:pathLst>
                <a:path w="829837" h="218314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181282"/>
                  </a:lnTo>
                  <a:cubicBezTo>
                    <a:pt x="829837" y="191104"/>
                    <a:pt x="825935" y="200523"/>
                    <a:pt x="818990" y="207468"/>
                  </a:cubicBezTo>
                  <a:cubicBezTo>
                    <a:pt x="812046" y="214412"/>
                    <a:pt x="802626" y="218314"/>
                    <a:pt x="792805" y="218314"/>
                  </a:cubicBezTo>
                  <a:lnTo>
                    <a:pt x="37032" y="218314"/>
                  </a:lnTo>
                  <a:cubicBezTo>
                    <a:pt x="27210" y="218314"/>
                    <a:pt x="17791" y="214412"/>
                    <a:pt x="10846" y="207468"/>
                  </a:cubicBezTo>
                  <a:cubicBezTo>
                    <a:pt x="3902" y="200523"/>
                    <a:pt x="0" y="191104"/>
                    <a:pt x="0" y="181282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D9D9D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29837" cy="256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b="1" u="none" strike="noStrik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DESCRIPCIÓN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55826" y="1608424"/>
            <a:ext cx="2090623" cy="550003"/>
            <a:chOff x="0" y="0"/>
            <a:chExt cx="829837" cy="2183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9837" cy="218314"/>
            </a:xfrm>
            <a:custGeom>
              <a:avLst/>
              <a:gdLst/>
              <a:ahLst/>
              <a:cxnLst/>
              <a:rect l="l" t="t" r="r" b="b"/>
              <a:pathLst>
                <a:path w="829837" h="218314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181282"/>
                  </a:lnTo>
                  <a:cubicBezTo>
                    <a:pt x="829837" y="191104"/>
                    <a:pt x="825935" y="200523"/>
                    <a:pt x="818990" y="207468"/>
                  </a:cubicBezTo>
                  <a:cubicBezTo>
                    <a:pt x="812046" y="214412"/>
                    <a:pt x="802626" y="218314"/>
                    <a:pt x="792805" y="218314"/>
                  </a:cubicBezTo>
                  <a:lnTo>
                    <a:pt x="37032" y="218314"/>
                  </a:lnTo>
                  <a:cubicBezTo>
                    <a:pt x="27210" y="218314"/>
                    <a:pt x="17791" y="214412"/>
                    <a:pt x="10846" y="207468"/>
                  </a:cubicBezTo>
                  <a:cubicBezTo>
                    <a:pt x="3902" y="200523"/>
                    <a:pt x="0" y="191104"/>
                    <a:pt x="0" y="181282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D9D9D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29837" cy="256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b="1" u="none" strike="noStrik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VENTAJAS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31457" y="1608424"/>
            <a:ext cx="2090623" cy="550003"/>
            <a:chOff x="0" y="0"/>
            <a:chExt cx="829837" cy="2183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9837" cy="218314"/>
            </a:xfrm>
            <a:custGeom>
              <a:avLst/>
              <a:gdLst/>
              <a:ahLst/>
              <a:cxnLst/>
              <a:rect l="l" t="t" r="r" b="b"/>
              <a:pathLst>
                <a:path w="829837" h="218314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181282"/>
                  </a:lnTo>
                  <a:cubicBezTo>
                    <a:pt x="829837" y="191104"/>
                    <a:pt x="825935" y="200523"/>
                    <a:pt x="818990" y="207468"/>
                  </a:cubicBezTo>
                  <a:cubicBezTo>
                    <a:pt x="812046" y="214412"/>
                    <a:pt x="802626" y="218314"/>
                    <a:pt x="792805" y="218314"/>
                  </a:cubicBezTo>
                  <a:lnTo>
                    <a:pt x="37032" y="218314"/>
                  </a:lnTo>
                  <a:cubicBezTo>
                    <a:pt x="27210" y="218314"/>
                    <a:pt x="17791" y="214412"/>
                    <a:pt x="10846" y="207468"/>
                  </a:cubicBezTo>
                  <a:cubicBezTo>
                    <a:pt x="3902" y="200523"/>
                    <a:pt x="0" y="191104"/>
                    <a:pt x="0" y="181282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D9D9D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29837" cy="256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b="1" u="none" strike="noStrik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DESVENTAJAS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1520" y="2405807"/>
            <a:ext cx="1600107" cy="990417"/>
            <a:chOff x="0" y="0"/>
            <a:chExt cx="635135" cy="3931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135" cy="393129"/>
            </a:xfrm>
            <a:custGeom>
              <a:avLst/>
              <a:gdLst/>
              <a:ahLst/>
              <a:cxnLst/>
              <a:rect l="l" t="t" r="r" b="b"/>
              <a:pathLst>
                <a:path w="635135" h="393129">
                  <a:moveTo>
                    <a:pt x="48384" y="0"/>
                  </a:moveTo>
                  <a:lnTo>
                    <a:pt x="586751" y="0"/>
                  </a:lnTo>
                  <a:cubicBezTo>
                    <a:pt x="613472" y="0"/>
                    <a:pt x="635135" y="21662"/>
                    <a:pt x="635135" y="48384"/>
                  </a:cubicBezTo>
                  <a:lnTo>
                    <a:pt x="635135" y="344745"/>
                  </a:lnTo>
                  <a:cubicBezTo>
                    <a:pt x="635135" y="371467"/>
                    <a:pt x="613472" y="393129"/>
                    <a:pt x="586751" y="393129"/>
                  </a:cubicBezTo>
                  <a:lnTo>
                    <a:pt x="48384" y="393129"/>
                  </a:lnTo>
                  <a:cubicBezTo>
                    <a:pt x="21662" y="393129"/>
                    <a:pt x="0" y="371467"/>
                    <a:pt x="0" y="344745"/>
                  </a:cubicBezTo>
                  <a:lnTo>
                    <a:pt x="0" y="48384"/>
                  </a:lnTo>
                  <a:cubicBezTo>
                    <a:pt x="0" y="21662"/>
                    <a:pt x="21662" y="0"/>
                    <a:pt x="48384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35135" cy="431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ORACLE</a:t>
              </a:r>
            </a:p>
          </p:txBody>
        </p:sp>
      </p:grpSp>
      <p:sp>
        <p:nvSpPr>
          <p:cNvPr id="15" name="Freeform 15"/>
          <p:cNvSpPr/>
          <p:nvPr/>
        </p:nvSpPr>
        <p:spPr>
          <a:xfrm rot="-6122697">
            <a:off x="-1535993" y="-1205329"/>
            <a:ext cx="1883220" cy="3132134"/>
          </a:xfrm>
          <a:custGeom>
            <a:avLst/>
            <a:gdLst/>
            <a:ahLst/>
            <a:cxnLst/>
            <a:rect l="l" t="t" r="r" b="b"/>
            <a:pathLst>
              <a:path w="1883220" h="3132134">
                <a:moveTo>
                  <a:pt x="0" y="0"/>
                </a:moveTo>
                <a:lnTo>
                  <a:pt x="1883220" y="0"/>
                </a:lnTo>
                <a:lnTo>
                  <a:pt x="1883220" y="3132134"/>
                </a:lnTo>
                <a:lnTo>
                  <a:pt x="0" y="3132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6" name="Freeform 16"/>
          <p:cNvSpPr/>
          <p:nvPr/>
        </p:nvSpPr>
        <p:spPr>
          <a:xfrm rot="3283565" flipH="1">
            <a:off x="8555302" y="-58538"/>
            <a:ext cx="1857792" cy="1580117"/>
          </a:xfrm>
          <a:custGeom>
            <a:avLst/>
            <a:gdLst/>
            <a:ahLst/>
            <a:cxnLst/>
            <a:rect l="l" t="t" r="r" b="b"/>
            <a:pathLst>
              <a:path w="1857792" h="1580117">
                <a:moveTo>
                  <a:pt x="1857792" y="0"/>
                </a:moveTo>
                <a:lnTo>
                  <a:pt x="0" y="0"/>
                </a:lnTo>
                <a:lnTo>
                  <a:pt x="0" y="1580116"/>
                </a:lnTo>
                <a:lnTo>
                  <a:pt x="1857792" y="1580116"/>
                </a:lnTo>
                <a:lnTo>
                  <a:pt x="185779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17" name="Group 17"/>
          <p:cNvGrpSpPr/>
          <p:nvPr/>
        </p:nvGrpSpPr>
        <p:grpSpPr>
          <a:xfrm>
            <a:off x="731520" y="731520"/>
            <a:ext cx="8290560" cy="717650"/>
            <a:chOff x="0" y="0"/>
            <a:chExt cx="3070578" cy="2657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70578" cy="265796"/>
            </a:xfrm>
            <a:custGeom>
              <a:avLst/>
              <a:gdLst/>
              <a:ahLst/>
              <a:cxnLst/>
              <a:rect l="l" t="t" r="r" b="b"/>
              <a:pathLst>
                <a:path w="3070578" h="265796">
                  <a:moveTo>
                    <a:pt x="18676" y="0"/>
                  </a:moveTo>
                  <a:lnTo>
                    <a:pt x="3051901" y="0"/>
                  </a:lnTo>
                  <a:cubicBezTo>
                    <a:pt x="3062216" y="0"/>
                    <a:pt x="3070578" y="8362"/>
                    <a:pt x="3070578" y="18676"/>
                  </a:cubicBezTo>
                  <a:lnTo>
                    <a:pt x="3070578" y="247120"/>
                  </a:lnTo>
                  <a:cubicBezTo>
                    <a:pt x="3070578" y="257435"/>
                    <a:pt x="3062216" y="265796"/>
                    <a:pt x="3051901" y="265796"/>
                  </a:cubicBezTo>
                  <a:lnTo>
                    <a:pt x="18676" y="265796"/>
                  </a:lnTo>
                  <a:cubicBezTo>
                    <a:pt x="8362" y="265796"/>
                    <a:pt x="0" y="257435"/>
                    <a:pt x="0" y="247120"/>
                  </a:cubicBezTo>
                  <a:lnTo>
                    <a:pt x="0" y="18676"/>
                  </a:lnTo>
                  <a:cubicBezTo>
                    <a:pt x="0" y="8362"/>
                    <a:pt x="8362" y="0"/>
                    <a:pt x="1867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070578" cy="322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000000"/>
                  </a:solidFill>
                  <a:latin typeface="TAN Meringue"/>
                  <a:ea typeface="TAN Meringue"/>
                  <a:cs typeface="TAN Meringue"/>
                  <a:sym typeface="TAN Meringue"/>
                </a:rPr>
                <a:t>Cuadro comparativo DB’S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1520" y="3468292"/>
            <a:ext cx="1600107" cy="990417"/>
            <a:chOff x="0" y="0"/>
            <a:chExt cx="635135" cy="39312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135" cy="393129"/>
            </a:xfrm>
            <a:custGeom>
              <a:avLst/>
              <a:gdLst/>
              <a:ahLst/>
              <a:cxnLst/>
              <a:rect l="l" t="t" r="r" b="b"/>
              <a:pathLst>
                <a:path w="635135" h="393129">
                  <a:moveTo>
                    <a:pt x="48384" y="0"/>
                  </a:moveTo>
                  <a:lnTo>
                    <a:pt x="586751" y="0"/>
                  </a:lnTo>
                  <a:cubicBezTo>
                    <a:pt x="613472" y="0"/>
                    <a:pt x="635135" y="21662"/>
                    <a:pt x="635135" y="48384"/>
                  </a:cubicBezTo>
                  <a:lnTo>
                    <a:pt x="635135" y="344745"/>
                  </a:lnTo>
                  <a:cubicBezTo>
                    <a:pt x="635135" y="371467"/>
                    <a:pt x="613472" y="393129"/>
                    <a:pt x="586751" y="393129"/>
                  </a:cubicBezTo>
                  <a:lnTo>
                    <a:pt x="48384" y="393129"/>
                  </a:lnTo>
                  <a:cubicBezTo>
                    <a:pt x="21662" y="393129"/>
                    <a:pt x="0" y="371467"/>
                    <a:pt x="0" y="344745"/>
                  </a:cubicBezTo>
                  <a:lnTo>
                    <a:pt x="0" y="48384"/>
                  </a:lnTo>
                  <a:cubicBezTo>
                    <a:pt x="0" y="21662"/>
                    <a:pt x="21662" y="0"/>
                    <a:pt x="48384" y="0"/>
                  </a:cubicBezTo>
                  <a:close/>
                </a:path>
              </a:pathLst>
            </a:custGeom>
            <a:solidFill>
              <a:srgbClr val="D9D9D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35135" cy="431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b="1" u="none" strike="noStrik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MYSQL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1520" y="5593263"/>
            <a:ext cx="1600107" cy="1318339"/>
            <a:chOff x="0" y="0"/>
            <a:chExt cx="635135" cy="5232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135" cy="523292"/>
            </a:xfrm>
            <a:custGeom>
              <a:avLst/>
              <a:gdLst/>
              <a:ahLst/>
              <a:cxnLst/>
              <a:rect l="l" t="t" r="r" b="b"/>
              <a:pathLst>
                <a:path w="635135" h="523292">
                  <a:moveTo>
                    <a:pt x="48384" y="0"/>
                  </a:moveTo>
                  <a:lnTo>
                    <a:pt x="586751" y="0"/>
                  </a:lnTo>
                  <a:cubicBezTo>
                    <a:pt x="613472" y="0"/>
                    <a:pt x="635135" y="21662"/>
                    <a:pt x="635135" y="48384"/>
                  </a:cubicBezTo>
                  <a:lnTo>
                    <a:pt x="635135" y="474908"/>
                  </a:lnTo>
                  <a:cubicBezTo>
                    <a:pt x="635135" y="501630"/>
                    <a:pt x="613472" y="523292"/>
                    <a:pt x="586751" y="523292"/>
                  </a:cubicBezTo>
                  <a:lnTo>
                    <a:pt x="48384" y="523292"/>
                  </a:lnTo>
                  <a:cubicBezTo>
                    <a:pt x="21662" y="523292"/>
                    <a:pt x="0" y="501630"/>
                    <a:pt x="0" y="474908"/>
                  </a:cubicBezTo>
                  <a:lnTo>
                    <a:pt x="0" y="48384"/>
                  </a:lnTo>
                  <a:cubicBezTo>
                    <a:pt x="0" y="21662"/>
                    <a:pt x="21662" y="0"/>
                    <a:pt x="48384" y="0"/>
                  </a:cubicBezTo>
                  <a:close/>
                </a:path>
              </a:pathLst>
            </a:custGeom>
            <a:solidFill>
              <a:srgbClr val="D9D9D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35135" cy="561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b="1" u="none" strike="noStrik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POSTGRESQL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31520" y="4530778"/>
            <a:ext cx="1600107" cy="990417"/>
            <a:chOff x="0" y="0"/>
            <a:chExt cx="635135" cy="39312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135" cy="393129"/>
            </a:xfrm>
            <a:custGeom>
              <a:avLst/>
              <a:gdLst/>
              <a:ahLst/>
              <a:cxnLst/>
              <a:rect l="l" t="t" r="r" b="b"/>
              <a:pathLst>
                <a:path w="635135" h="393129">
                  <a:moveTo>
                    <a:pt x="48384" y="0"/>
                  </a:moveTo>
                  <a:lnTo>
                    <a:pt x="586751" y="0"/>
                  </a:lnTo>
                  <a:cubicBezTo>
                    <a:pt x="613472" y="0"/>
                    <a:pt x="635135" y="21662"/>
                    <a:pt x="635135" y="48384"/>
                  </a:cubicBezTo>
                  <a:lnTo>
                    <a:pt x="635135" y="344745"/>
                  </a:lnTo>
                  <a:cubicBezTo>
                    <a:pt x="635135" y="371467"/>
                    <a:pt x="613472" y="393129"/>
                    <a:pt x="586751" y="393129"/>
                  </a:cubicBezTo>
                  <a:lnTo>
                    <a:pt x="48384" y="393129"/>
                  </a:lnTo>
                  <a:cubicBezTo>
                    <a:pt x="21662" y="393129"/>
                    <a:pt x="0" y="371467"/>
                    <a:pt x="0" y="344745"/>
                  </a:cubicBezTo>
                  <a:lnTo>
                    <a:pt x="0" y="48384"/>
                  </a:lnTo>
                  <a:cubicBezTo>
                    <a:pt x="0" y="21662"/>
                    <a:pt x="21662" y="0"/>
                    <a:pt x="48384" y="0"/>
                  </a:cubicBezTo>
                  <a:close/>
                </a:path>
              </a:pathLst>
            </a:custGeom>
            <a:solidFill>
              <a:srgbClr val="D9D9D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35135" cy="431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b="1" u="none" strike="noStrik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SQL SERVER</a:t>
              </a:r>
            </a:p>
          </p:txBody>
        </p:sp>
      </p:grpSp>
      <p:sp>
        <p:nvSpPr>
          <p:cNvPr id="29" name="Freeform 29"/>
          <p:cNvSpPr/>
          <p:nvPr/>
        </p:nvSpPr>
        <p:spPr>
          <a:xfrm rot="5400000">
            <a:off x="1213777" y="1762555"/>
            <a:ext cx="635593" cy="327330"/>
          </a:xfrm>
          <a:custGeom>
            <a:avLst/>
            <a:gdLst/>
            <a:ahLst/>
            <a:cxnLst/>
            <a:rect l="l" t="t" r="r" b="b"/>
            <a:pathLst>
              <a:path w="635593" h="327330">
                <a:moveTo>
                  <a:pt x="0" y="0"/>
                </a:moveTo>
                <a:lnTo>
                  <a:pt x="635593" y="0"/>
                </a:lnTo>
                <a:lnTo>
                  <a:pt x="635593" y="327331"/>
                </a:lnTo>
                <a:lnTo>
                  <a:pt x="0" y="327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0" name="Freeform 30"/>
          <p:cNvSpPr/>
          <p:nvPr/>
        </p:nvSpPr>
        <p:spPr>
          <a:xfrm rot="3562343">
            <a:off x="8650133" y="6121697"/>
            <a:ext cx="1305006" cy="1551300"/>
          </a:xfrm>
          <a:custGeom>
            <a:avLst/>
            <a:gdLst/>
            <a:ahLst/>
            <a:cxnLst/>
            <a:rect l="l" t="t" r="r" b="b"/>
            <a:pathLst>
              <a:path w="1305006" h="1551300">
                <a:moveTo>
                  <a:pt x="0" y="0"/>
                </a:moveTo>
                <a:lnTo>
                  <a:pt x="1305006" y="0"/>
                </a:lnTo>
                <a:lnTo>
                  <a:pt x="1305006" y="1551301"/>
                </a:lnTo>
                <a:lnTo>
                  <a:pt x="0" y="15513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1" name="Freeform 31"/>
          <p:cNvSpPr/>
          <p:nvPr/>
        </p:nvSpPr>
        <p:spPr>
          <a:xfrm>
            <a:off x="-214834" y="5940711"/>
            <a:ext cx="860629" cy="1849065"/>
          </a:xfrm>
          <a:custGeom>
            <a:avLst/>
            <a:gdLst/>
            <a:ahLst/>
            <a:cxnLst/>
            <a:rect l="l" t="t" r="r" b="b"/>
            <a:pathLst>
              <a:path w="860629" h="1849065">
                <a:moveTo>
                  <a:pt x="0" y="0"/>
                </a:moveTo>
                <a:lnTo>
                  <a:pt x="860629" y="0"/>
                </a:lnTo>
                <a:lnTo>
                  <a:pt x="860629" y="1849066"/>
                </a:lnTo>
                <a:lnTo>
                  <a:pt x="0" y="1849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2" name="Group 32"/>
          <p:cNvGrpSpPr/>
          <p:nvPr/>
        </p:nvGrpSpPr>
        <p:grpSpPr>
          <a:xfrm>
            <a:off x="2580195" y="2405807"/>
            <a:ext cx="2090623" cy="990417"/>
            <a:chOff x="0" y="0"/>
            <a:chExt cx="829837" cy="39312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29837" cy="393129"/>
            </a:xfrm>
            <a:custGeom>
              <a:avLst/>
              <a:gdLst/>
              <a:ahLst/>
              <a:cxnLst/>
              <a:rect l="l" t="t" r="r" b="b"/>
              <a:pathLst>
                <a:path w="829837" h="393129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356097"/>
                  </a:lnTo>
                  <a:cubicBezTo>
                    <a:pt x="829837" y="365919"/>
                    <a:pt x="825935" y="375338"/>
                    <a:pt x="818990" y="382283"/>
                  </a:cubicBezTo>
                  <a:cubicBezTo>
                    <a:pt x="812046" y="389227"/>
                    <a:pt x="802626" y="393129"/>
                    <a:pt x="792805" y="393129"/>
                  </a:cubicBezTo>
                  <a:lnTo>
                    <a:pt x="37032" y="393129"/>
                  </a:lnTo>
                  <a:cubicBezTo>
                    <a:pt x="27210" y="393129"/>
                    <a:pt x="17791" y="389227"/>
                    <a:pt x="10846" y="382283"/>
                  </a:cubicBezTo>
                  <a:cubicBezTo>
                    <a:pt x="3902" y="375338"/>
                    <a:pt x="0" y="365919"/>
                    <a:pt x="0" y="356097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Es la base de datos más usada en el entorno empresarial, ya que permite almacenar bases de datos de gran tamaño. Cuenta con diferentes planes al ser una plataforma de pago.</a:t>
              </a:r>
              <a:endParaRPr lang="es-419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829837" cy="4217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 sz="10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55826" y="2405807"/>
            <a:ext cx="2090623" cy="990417"/>
            <a:chOff x="0" y="0"/>
            <a:chExt cx="829837" cy="3931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29837" cy="393129"/>
            </a:xfrm>
            <a:custGeom>
              <a:avLst/>
              <a:gdLst/>
              <a:ahLst/>
              <a:cxnLst/>
              <a:rect l="l" t="t" r="r" b="b"/>
              <a:pathLst>
                <a:path w="829837" h="393129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356097"/>
                  </a:lnTo>
                  <a:cubicBezTo>
                    <a:pt x="829837" y="365919"/>
                    <a:pt x="825935" y="375338"/>
                    <a:pt x="818990" y="382283"/>
                  </a:cubicBezTo>
                  <a:cubicBezTo>
                    <a:pt x="812046" y="389227"/>
                    <a:pt x="802626" y="393129"/>
                    <a:pt x="792805" y="393129"/>
                  </a:cubicBezTo>
                  <a:lnTo>
                    <a:pt x="37032" y="393129"/>
                  </a:lnTo>
                  <a:cubicBezTo>
                    <a:pt x="27210" y="393129"/>
                    <a:pt x="17791" y="389227"/>
                    <a:pt x="10846" y="382283"/>
                  </a:cubicBezTo>
                  <a:cubicBezTo>
                    <a:pt x="3902" y="375338"/>
                    <a:pt x="0" y="365919"/>
                    <a:pt x="0" y="356097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Multiplataforma.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Intuitiva y fácil de usar.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Estabilidad.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Seguridad avanzada.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Base de datos autónoma (IA)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Compatibilidad con distintos SO</a:t>
              </a:r>
              <a:endParaRPr lang="es-419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829837" cy="4217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 sz="10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931457" y="2405807"/>
            <a:ext cx="2090623" cy="990417"/>
            <a:chOff x="0" y="0"/>
            <a:chExt cx="829837" cy="39312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29837" cy="393129"/>
            </a:xfrm>
            <a:custGeom>
              <a:avLst/>
              <a:gdLst/>
              <a:ahLst/>
              <a:cxnLst/>
              <a:rect l="l" t="t" r="r" b="b"/>
              <a:pathLst>
                <a:path w="829837" h="393129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356097"/>
                  </a:lnTo>
                  <a:cubicBezTo>
                    <a:pt x="829837" y="365919"/>
                    <a:pt x="825935" y="375338"/>
                    <a:pt x="818990" y="382283"/>
                  </a:cubicBezTo>
                  <a:cubicBezTo>
                    <a:pt x="812046" y="389227"/>
                    <a:pt x="802626" y="393129"/>
                    <a:pt x="792805" y="393129"/>
                  </a:cubicBezTo>
                  <a:lnTo>
                    <a:pt x="37032" y="393129"/>
                  </a:lnTo>
                  <a:cubicBezTo>
                    <a:pt x="27210" y="393129"/>
                    <a:pt x="17791" y="389227"/>
                    <a:pt x="10846" y="382283"/>
                  </a:cubicBezTo>
                  <a:cubicBezTo>
                    <a:pt x="3902" y="375338"/>
                    <a:pt x="0" y="365919"/>
                    <a:pt x="0" y="356097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Costo del software.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Requisitos del hardware.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829837" cy="4217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580195" y="3468292"/>
            <a:ext cx="2090623" cy="990417"/>
            <a:chOff x="0" y="0"/>
            <a:chExt cx="829837" cy="39312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29837" cy="393129"/>
            </a:xfrm>
            <a:custGeom>
              <a:avLst/>
              <a:gdLst/>
              <a:ahLst/>
              <a:cxnLst/>
              <a:rect l="l" t="t" r="r" b="b"/>
              <a:pathLst>
                <a:path w="829837" h="393129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356097"/>
                  </a:lnTo>
                  <a:cubicBezTo>
                    <a:pt x="829837" y="365919"/>
                    <a:pt x="825935" y="375338"/>
                    <a:pt x="818990" y="382283"/>
                  </a:cubicBezTo>
                  <a:cubicBezTo>
                    <a:pt x="812046" y="389227"/>
                    <a:pt x="802626" y="393129"/>
                    <a:pt x="792805" y="393129"/>
                  </a:cubicBezTo>
                  <a:lnTo>
                    <a:pt x="37032" y="393129"/>
                  </a:lnTo>
                  <a:cubicBezTo>
                    <a:pt x="27210" y="393129"/>
                    <a:pt x="17791" y="389227"/>
                    <a:pt x="10846" y="382283"/>
                  </a:cubicBezTo>
                  <a:cubicBezTo>
                    <a:pt x="3902" y="375338"/>
                    <a:pt x="0" y="365919"/>
                    <a:pt x="0" y="356097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Pertenece a Oracle, es una base de datos únicamente relacional. Es el más usado en aplicaciones creadas como software libre.</a:t>
              </a:r>
              <a:endParaRPr lang="es-419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829837" cy="4217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580195" y="4530778"/>
            <a:ext cx="2090623" cy="990417"/>
            <a:chOff x="0" y="0"/>
            <a:chExt cx="829837" cy="39312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29837" cy="393129"/>
            </a:xfrm>
            <a:custGeom>
              <a:avLst/>
              <a:gdLst/>
              <a:ahLst/>
              <a:cxnLst/>
              <a:rect l="l" t="t" r="r" b="b"/>
              <a:pathLst>
                <a:path w="829837" h="393129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356097"/>
                  </a:lnTo>
                  <a:cubicBezTo>
                    <a:pt x="829837" y="365919"/>
                    <a:pt x="825935" y="375338"/>
                    <a:pt x="818990" y="382283"/>
                  </a:cubicBezTo>
                  <a:cubicBezTo>
                    <a:pt x="812046" y="389227"/>
                    <a:pt x="802626" y="393129"/>
                    <a:pt x="792805" y="393129"/>
                  </a:cubicBezTo>
                  <a:lnTo>
                    <a:pt x="37032" y="393129"/>
                  </a:lnTo>
                  <a:cubicBezTo>
                    <a:pt x="27210" y="393129"/>
                    <a:pt x="17791" y="389227"/>
                    <a:pt x="10846" y="382283"/>
                  </a:cubicBezTo>
                  <a:cubicBezTo>
                    <a:pt x="3902" y="375338"/>
                    <a:pt x="0" y="365919"/>
                    <a:pt x="0" y="356097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Es una base de datos que utiliza el servidor dedicado de Microsoft, es una solución de coste medio y rendimiento medio. Suelen usarlo empresas que no tienen exceso de información.</a:t>
              </a:r>
              <a:endParaRPr lang="es-419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829837" cy="4217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580195" y="5521273"/>
            <a:ext cx="2090623" cy="1414325"/>
            <a:chOff x="0" y="-28575"/>
            <a:chExt cx="829837" cy="56139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29837" cy="523292"/>
            </a:xfrm>
            <a:custGeom>
              <a:avLst/>
              <a:gdLst/>
              <a:ahLst/>
              <a:cxnLst/>
              <a:rect l="l" t="t" r="r" b="b"/>
              <a:pathLst>
                <a:path w="829837" h="523292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486260"/>
                  </a:lnTo>
                  <a:cubicBezTo>
                    <a:pt x="829837" y="496082"/>
                    <a:pt x="825935" y="505501"/>
                    <a:pt x="818990" y="512445"/>
                  </a:cubicBezTo>
                  <a:cubicBezTo>
                    <a:pt x="812046" y="519390"/>
                    <a:pt x="802626" y="523292"/>
                    <a:pt x="792805" y="523292"/>
                  </a:cubicBezTo>
                  <a:lnTo>
                    <a:pt x="37032" y="523292"/>
                  </a:lnTo>
                  <a:cubicBezTo>
                    <a:pt x="27210" y="523292"/>
                    <a:pt x="17791" y="519390"/>
                    <a:pt x="10846" y="512445"/>
                  </a:cubicBezTo>
                  <a:cubicBezTo>
                    <a:pt x="3902" y="505501"/>
                    <a:pt x="0" y="496082"/>
                    <a:pt x="0" y="486260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829837" cy="561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1400"/>
                </a:lnSpc>
                <a:spcBef>
                  <a:spcPct val="0"/>
                </a:spcBef>
              </a:pP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Es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una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base de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datos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relacional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y ORDBMS de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código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abierto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,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enfocado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en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la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potencia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.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Permite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al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desarrollador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flexibilidad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con UDT </a:t>
              </a:r>
              <a:r>
                <a:rPr lang="en-US" sz="1000" dirty="0" err="1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personalizados</a:t>
              </a:r>
              <a:r>
                <a:rPr lang="en-US" sz="1000" dirty="0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755826" y="3453864"/>
            <a:ext cx="2090623" cy="990417"/>
            <a:chOff x="0" y="0"/>
            <a:chExt cx="829837" cy="39312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29837" cy="393129"/>
            </a:xfrm>
            <a:custGeom>
              <a:avLst/>
              <a:gdLst/>
              <a:ahLst/>
              <a:cxnLst/>
              <a:rect l="l" t="t" r="r" b="b"/>
              <a:pathLst>
                <a:path w="829837" h="393129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356097"/>
                  </a:lnTo>
                  <a:cubicBezTo>
                    <a:pt x="829837" y="365919"/>
                    <a:pt x="825935" y="375338"/>
                    <a:pt x="818990" y="382283"/>
                  </a:cubicBezTo>
                  <a:cubicBezTo>
                    <a:pt x="812046" y="389227"/>
                    <a:pt x="802626" y="393129"/>
                    <a:pt x="792805" y="393129"/>
                  </a:cubicBezTo>
                  <a:lnTo>
                    <a:pt x="37032" y="393129"/>
                  </a:lnTo>
                  <a:cubicBezTo>
                    <a:pt x="27210" y="393129"/>
                    <a:pt x="17791" y="389227"/>
                    <a:pt x="10846" y="382283"/>
                  </a:cubicBezTo>
                  <a:cubicBezTo>
                    <a:pt x="3902" y="375338"/>
                    <a:pt x="0" y="365919"/>
                    <a:pt x="0" y="356097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Uso de </a:t>
              </a:r>
              <a:r>
                <a:rPr lang="es-MX" sz="10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Secure</a:t>
              </a:r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 </a:t>
              </a:r>
              <a:r>
                <a:rPr lang="es-MX" sz="10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Socker</a:t>
              </a:r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 Layer.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Código abierto.</a:t>
              </a:r>
              <a:endParaRPr lang="es-419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r>
                <a:rPr lang="es-419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Admite aplicaciones exigentes a alta velocidad. </a:t>
              </a:r>
            </a:p>
            <a:p>
              <a:r>
                <a:rPr lang="es-419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Instalación sencilla.</a:t>
              </a:r>
              <a:endParaRPr lang="es-MX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829837" cy="4217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755826" y="4537060"/>
            <a:ext cx="2090623" cy="990417"/>
            <a:chOff x="0" y="0"/>
            <a:chExt cx="829837" cy="39312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29837" cy="393129"/>
            </a:xfrm>
            <a:custGeom>
              <a:avLst/>
              <a:gdLst/>
              <a:ahLst/>
              <a:cxnLst/>
              <a:rect l="l" t="t" r="r" b="b"/>
              <a:pathLst>
                <a:path w="829837" h="393129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356097"/>
                  </a:lnTo>
                  <a:cubicBezTo>
                    <a:pt x="829837" y="365919"/>
                    <a:pt x="825935" y="375338"/>
                    <a:pt x="818990" y="382283"/>
                  </a:cubicBezTo>
                  <a:cubicBezTo>
                    <a:pt x="812046" y="389227"/>
                    <a:pt x="802626" y="393129"/>
                    <a:pt x="792805" y="393129"/>
                  </a:cubicBezTo>
                  <a:lnTo>
                    <a:pt x="37032" y="393129"/>
                  </a:lnTo>
                  <a:cubicBezTo>
                    <a:pt x="27210" y="393129"/>
                    <a:pt x="17791" y="389227"/>
                    <a:pt x="10846" y="382283"/>
                  </a:cubicBezTo>
                  <a:cubicBezTo>
                    <a:pt x="3902" y="375338"/>
                    <a:pt x="0" y="365919"/>
                    <a:pt x="0" y="356097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Multiplataforma.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Separa las bases de datos para consultas más sencillas.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</a:t>
              </a:r>
              <a:r>
                <a:rPr lang="es-419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Alta disponibilidad.</a:t>
              </a:r>
              <a:endParaRPr lang="es-MX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28575"/>
              <a:ext cx="829837" cy="4217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755826" y="5578835"/>
            <a:ext cx="2090623" cy="1332767"/>
            <a:chOff x="0" y="0"/>
            <a:chExt cx="829837" cy="52901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29837" cy="529019"/>
            </a:xfrm>
            <a:custGeom>
              <a:avLst/>
              <a:gdLst/>
              <a:ahLst/>
              <a:cxnLst/>
              <a:rect l="l" t="t" r="r" b="b"/>
              <a:pathLst>
                <a:path w="829837" h="529019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491987"/>
                  </a:lnTo>
                  <a:cubicBezTo>
                    <a:pt x="829837" y="501808"/>
                    <a:pt x="825935" y="511228"/>
                    <a:pt x="818990" y="518172"/>
                  </a:cubicBezTo>
                  <a:cubicBezTo>
                    <a:pt x="812046" y="525117"/>
                    <a:pt x="802626" y="529019"/>
                    <a:pt x="792805" y="529019"/>
                  </a:cubicBezTo>
                  <a:lnTo>
                    <a:pt x="37032" y="529019"/>
                  </a:lnTo>
                  <a:cubicBezTo>
                    <a:pt x="27210" y="529019"/>
                    <a:pt x="17791" y="525117"/>
                    <a:pt x="10846" y="518172"/>
                  </a:cubicBezTo>
                  <a:cubicBezTo>
                    <a:pt x="3902" y="511228"/>
                    <a:pt x="0" y="501808"/>
                    <a:pt x="0" y="491987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Código abierto</a:t>
              </a:r>
              <a:r>
                <a:rPr lang="es-419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 y gratuito.</a:t>
              </a:r>
            </a:p>
            <a:p>
              <a:r>
                <a:rPr lang="es-419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Multiplataforma.</a:t>
              </a:r>
            </a:p>
            <a:p>
              <a:r>
                <a:rPr lang="es-419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Gran volumen de datos.</a:t>
              </a:r>
            </a:p>
            <a:p>
              <a:r>
                <a:rPr lang="es-419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Gestión de bases de datos relacionales de objetos.</a:t>
              </a:r>
              <a:endParaRPr lang="es-MX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Soporte para múltiples lenguajes (Py, Java, JS, C/C++ y Ruby).</a:t>
              </a:r>
              <a:endParaRPr lang="es-419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829837" cy="55759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931457" y="3439436"/>
            <a:ext cx="2090623" cy="990417"/>
            <a:chOff x="0" y="0"/>
            <a:chExt cx="829837" cy="39312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29837" cy="393129"/>
            </a:xfrm>
            <a:custGeom>
              <a:avLst/>
              <a:gdLst/>
              <a:ahLst/>
              <a:cxnLst/>
              <a:rect l="l" t="t" r="r" b="b"/>
              <a:pathLst>
                <a:path w="829837" h="393129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356097"/>
                  </a:lnTo>
                  <a:cubicBezTo>
                    <a:pt x="829837" y="365919"/>
                    <a:pt x="825935" y="375338"/>
                    <a:pt x="818990" y="382283"/>
                  </a:cubicBezTo>
                  <a:cubicBezTo>
                    <a:pt x="812046" y="389227"/>
                    <a:pt x="802626" y="393129"/>
                    <a:pt x="792805" y="393129"/>
                  </a:cubicBezTo>
                  <a:lnTo>
                    <a:pt x="37032" y="393129"/>
                  </a:lnTo>
                  <a:cubicBezTo>
                    <a:pt x="27210" y="393129"/>
                    <a:pt x="17791" y="389227"/>
                    <a:pt x="10846" y="382283"/>
                  </a:cubicBezTo>
                  <a:cubicBezTo>
                    <a:pt x="3902" y="375338"/>
                    <a:pt x="0" y="365919"/>
                    <a:pt x="0" y="356097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Eficiencia con bases de datos de gran tamaño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No tiene soporte en versiones antiguas (antes de abril de 2026).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Menor optimización GIS y JSON.</a:t>
              </a:r>
              <a:endParaRPr lang="es-419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28575"/>
              <a:ext cx="829837" cy="4217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931457" y="4429932"/>
            <a:ext cx="2090623" cy="1062407"/>
            <a:chOff x="0" y="-28575"/>
            <a:chExt cx="829837" cy="42170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29837" cy="393129"/>
            </a:xfrm>
            <a:custGeom>
              <a:avLst/>
              <a:gdLst/>
              <a:ahLst/>
              <a:cxnLst/>
              <a:rect l="l" t="t" r="r" b="b"/>
              <a:pathLst>
                <a:path w="829837" h="393129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356097"/>
                  </a:lnTo>
                  <a:cubicBezTo>
                    <a:pt x="829837" y="365919"/>
                    <a:pt x="825935" y="375338"/>
                    <a:pt x="818990" y="382283"/>
                  </a:cubicBezTo>
                  <a:cubicBezTo>
                    <a:pt x="812046" y="389227"/>
                    <a:pt x="802626" y="393129"/>
                    <a:pt x="792805" y="393129"/>
                  </a:cubicBezTo>
                  <a:lnTo>
                    <a:pt x="37032" y="393129"/>
                  </a:lnTo>
                  <a:cubicBezTo>
                    <a:pt x="27210" y="393129"/>
                    <a:pt x="17791" y="389227"/>
                    <a:pt x="10846" y="382283"/>
                  </a:cubicBezTo>
                  <a:cubicBezTo>
                    <a:pt x="3902" y="375338"/>
                    <a:pt x="0" y="365919"/>
                    <a:pt x="0" y="356097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Alto consumo de memoria RAM.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Relación calidad/precio inferior a Oracle.</a:t>
              </a:r>
              <a:endParaRPr lang="es-419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r>
                <a:rPr lang="es-419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Menor flexibilidad multiplataforma.</a:t>
              </a:r>
              <a:endParaRPr lang="es-MX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829837" cy="42170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931457" y="5564407"/>
            <a:ext cx="2090623" cy="1347195"/>
            <a:chOff x="0" y="0"/>
            <a:chExt cx="829837" cy="53474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29837" cy="534746"/>
            </a:xfrm>
            <a:custGeom>
              <a:avLst/>
              <a:gdLst/>
              <a:ahLst/>
              <a:cxnLst/>
              <a:rect l="l" t="t" r="r" b="b"/>
              <a:pathLst>
                <a:path w="829837" h="534746">
                  <a:moveTo>
                    <a:pt x="37032" y="0"/>
                  </a:moveTo>
                  <a:lnTo>
                    <a:pt x="792805" y="0"/>
                  </a:lnTo>
                  <a:cubicBezTo>
                    <a:pt x="802626" y="0"/>
                    <a:pt x="812046" y="3902"/>
                    <a:pt x="818990" y="10846"/>
                  </a:cubicBezTo>
                  <a:cubicBezTo>
                    <a:pt x="825935" y="17791"/>
                    <a:pt x="829837" y="27210"/>
                    <a:pt x="829837" y="37032"/>
                  </a:cubicBezTo>
                  <a:lnTo>
                    <a:pt x="829837" y="497714"/>
                  </a:lnTo>
                  <a:cubicBezTo>
                    <a:pt x="829837" y="507535"/>
                    <a:pt x="825935" y="516954"/>
                    <a:pt x="818990" y="523899"/>
                  </a:cubicBezTo>
                  <a:cubicBezTo>
                    <a:pt x="812046" y="530844"/>
                    <a:pt x="802626" y="534746"/>
                    <a:pt x="792805" y="534746"/>
                  </a:cubicBezTo>
                  <a:lnTo>
                    <a:pt x="37032" y="534746"/>
                  </a:lnTo>
                  <a:cubicBezTo>
                    <a:pt x="27210" y="534746"/>
                    <a:pt x="17791" y="530844"/>
                    <a:pt x="10846" y="523899"/>
                  </a:cubicBezTo>
                  <a:cubicBezTo>
                    <a:pt x="3902" y="516954"/>
                    <a:pt x="0" y="507535"/>
                    <a:pt x="0" y="497714"/>
                  </a:cubicBezTo>
                  <a:lnTo>
                    <a:pt x="0" y="37032"/>
                  </a:lnTo>
                  <a:cubicBezTo>
                    <a:pt x="0" y="27210"/>
                    <a:pt x="3902" y="17791"/>
                    <a:pt x="10846" y="10846"/>
                  </a:cubicBezTo>
                  <a:cubicBezTo>
                    <a:pt x="17791" y="3902"/>
                    <a:pt x="27210" y="0"/>
                    <a:pt x="370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 anchor="ctr"/>
            <a:lstStyle/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Respuesta lenta en bases de datos pequeñas.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Requisitos de hardware.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Curva de aprendizaje compleja.</a:t>
              </a:r>
            </a:p>
            <a:p>
              <a:r>
                <a:rPr lang="es-MX" sz="1000" dirty="0">
                  <a:latin typeface="Cambria" panose="02040503050406030204" pitchFamily="18" charset="0"/>
                  <a:ea typeface="Cambria" panose="02040503050406030204" pitchFamily="18" charset="0"/>
                </a:rPr>
                <a:t>— Soporte oficial limitado.</a:t>
              </a:r>
            </a:p>
            <a:p>
              <a:endParaRPr lang="es-419" sz="1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829837" cy="56332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marL="0" lvl="0" indent="0" algn="l">
                <a:lnSpc>
                  <a:spcPts val="154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327</Words>
  <Application>Microsoft Office PowerPoint</Application>
  <PresentationFormat>Personalizado</PresentationFormat>
  <Paragraphs>42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Cambria</vt:lpstr>
      <vt:lpstr>Calibri</vt:lpstr>
      <vt:lpstr>TAN Meringue</vt:lpstr>
      <vt:lpstr>DM Sans Bold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Gráfico Tabla Comparativa Elegante Minimalista Rosado y Beige</dc:title>
  <dc:creator>Aprendiz</dc:creator>
  <cp:lastModifiedBy>Aprendiz</cp:lastModifiedBy>
  <cp:revision>2</cp:revision>
  <dcterms:created xsi:type="dcterms:W3CDTF">2006-08-16T00:00:00Z</dcterms:created>
  <dcterms:modified xsi:type="dcterms:W3CDTF">2026-08-31T17:04:21Z</dcterms:modified>
  <dc:identifier>DAHT4Ph9hPA</dc:identifier>
</cp:coreProperties>
</file>